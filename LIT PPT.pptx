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5" r:id="rId3"/>
    <p:sldId id="257" r:id="rId4"/>
    <p:sldId id="259" r:id="rId5"/>
    <p:sldId id="260" r:id="rId6"/>
    <p:sldId id="261" r:id="rId7"/>
    <p:sldId id="263" r:id="rId8"/>
    <p:sldId id="264" r:id="rId9"/>
    <p:sldId id="262" r:id="rId10"/>
    <p:sldId id="266" r:id="rId11"/>
    <p:sldId id="274" r:id="rId12"/>
    <p:sldId id="273" r:id="rId13"/>
    <p:sldId id="271" r:id="rId14"/>
    <p:sldId id="272" r:id="rId15"/>
    <p:sldId id="275" r:id="rId16"/>
    <p:sldId id="267" r:id="rId17"/>
    <p:sldId id="268" r:id="rId18"/>
    <p:sldId id="269" r:id="rId19"/>
    <p:sldId id="270" r:id="rId20"/>
    <p:sldId id="283" r:id="rId21"/>
    <p:sldId id="285" r:id="rId22"/>
    <p:sldId id="284" r:id="rId23"/>
    <p:sldId id="276" r:id="rId24"/>
    <p:sldId id="277" r:id="rId25"/>
    <p:sldId id="279" r:id="rId26"/>
    <p:sldId id="280" r:id="rId27"/>
    <p:sldId id="281" r:id="rId28"/>
    <p:sldId id="282" r:id="rId29"/>
    <p:sldId id="286" r:id="rId30"/>
    <p:sldId id="287" r:id="rId31"/>
    <p:sldId id="289" r:id="rId32"/>
    <p:sldId id="258" r:id="rId33"/>
  </p:sldIdLst>
  <p:sldSz cx="12192000" cy="6858000"/>
  <p:notesSz cx="6858000" cy="9144000"/>
  <p:embeddedFontLst>
    <p:embeddedFont>
      <p:font typeface="Asta Sans ExtraBold" panose="020B0600000101010101" charset="-127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Y9gzOs6oEqfIqsAAgvkQBoVMZ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1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06710ea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06710ea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06710eaa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06710eaa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466725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sta Sans ExtraBold"/>
              <a:buNone/>
              <a:defRPr sz="6500">
                <a:latin typeface="Asta Sans ExtraBold"/>
                <a:ea typeface="Asta Sans ExtraBold"/>
                <a:cs typeface="Asta Sans ExtraBold"/>
                <a:sym typeface="As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466725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sta Sans ExtraBold"/>
                <a:ea typeface="Asta Sans ExtraBold"/>
                <a:cs typeface="Asta Sans ExtraBold"/>
                <a:sym typeface="Asta Sans Extra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Relationship Id="rId9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466725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sta Sans ExtraBold"/>
              <a:buNone/>
            </a:pPr>
            <a:r>
              <a:rPr lang="ko-KR"/>
              <a:t>LIT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466725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Learn, 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6천개의 Tired student cartoon 로열티 프리 이미지 및 스톡 사진 | Shutterstock">
            <a:extLst>
              <a:ext uri="{FF2B5EF4-FFF2-40B4-BE49-F238E27FC236}">
                <a16:creationId xmlns:a16="http://schemas.microsoft.com/office/drawing/2014/main" id="{3068124B-75A9-377F-972C-FB275469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593" y="1772517"/>
            <a:ext cx="5926814" cy="3479222"/>
          </a:xfrm>
          <a:prstGeom prst="rect">
            <a:avLst/>
          </a:prstGeom>
        </p:spPr>
      </p:pic>
      <p:pic>
        <p:nvPicPr>
          <p:cNvPr id="6" name="그림 5" descr="Pdf 이미지 - Magnific (구 Freepik)에서 무료 다운로드하기">
            <a:extLst>
              <a:ext uri="{FF2B5EF4-FFF2-40B4-BE49-F238E27FC236}">
                <a16:creationId xmlns:a16="http://schemas.microsoft.com/office/drawing/2014/main" id="{A0EC6469-7015-8326-F7E4-E234B9520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99" y="2273882"/>
            <a:ext cx="419534" cy="419534"/>
          </a:xfrm>
          <a:prstGeom prst="rect">
            <a:avLst/>
          </a:prstGeom>
        </p:spPr>
      </p:pic>
      <p:pic>
        <p:nvPicPr>
          <p:cNvPr id="7" name="그림 6" descr="Pdf 이미지 - Magnific (구 Freepik)에서 무료 다운로드하기">
            <a:extLst>
              <a:ext uri="{FF2B5EF4-FFF2-40B4-BE49-F238E27FC236}">
                <a16:creationId xmlns:a16="http://schemas.microsoft.com/office/drawing/2014/main" id="{100D965D-4A00-9E5E-C9B5-E1F9F930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517" y="2169864"/>
            <a:ext cx="419534" cy="419534"/>
          </a:xfrm>
          <a:prstGeom prst="rect">
            <a:avLst/>
          </a:prstGeom>
        </p:spPr>
      </p:pic>
      <p:pic>
        <p:nvPicPr>
          <p:cNvPr id="8" name="그림 7" descr="Pdf 이미지 - Magnific (구 Freepik)에서 무료 다운로드하기">
            <a:extLst>
              <a:ext uri="{FF2B5EF4-FFF2-40B4-BE49-F238E27FC236}">
                <a16:creationId xmlns:a16="http://schemas.microsoft.com/office/drawing/2014/main" id="{AD7D6C5D-7CD4-752F-85CC-EB136B503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27" y="2145074"/>
            <a:ext cx="419534" cy="419534"/>
          </a:xfrm>
          <a:prstGeom prst="rect">
            <a:avLst/>
          </a:prstGeom>
        </p:spPr>
      </p:pic>
      <p:pic>
        <p:nvPicPr>
          <p:cNvPr id="9" name="그림 8" descr="Pdf 이미지 - Magnific (구 Freepik)에서 무료 다운로드하기">
            <a:extLst>
              <a:ext uri="{FF2B5EF4-FFF2-40B4-BE49-F238E27FC236}">
                <a16:creationId xmlns:a16="http://schemas.microsoft.com/office/drawing/2014/main" id="{09B32F13-2FBD-3D0C-A39A-7049D4C34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660" y="2309599"/>
            <a:ext cx="419534" cy="419534"/>
          </a:xfrm>
          <a:prstGeom prst="rect">
            <a:avLst/>
          </a:prstGeom>
        </p:spPr>
      </p:pic>
      <p:pic>
        <p:nvPicPr>
          <p:cNvPr id="10" name="그림 9" descr="Pdf 이미지 - Magnific (구 Freepik)에서 무료 다운로드하기">
            <a:extLst>
              <a:ext uri="{FF2B5EF4-FFF2-40B4-BE49-F238E27FC236}">
                <a16:creationId xmlns:a16="http://schemas.microsoft.com/office/drawing/2014/main" id="{6F2EEDDF-AE34-2D58-7C32-60E236938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27" y="2317393"/>
            <a:ext cx="419534" cy="419534"/>
          </a:xfrm>
          <a:prstGeom prst="rect">
            <a:avLst/>
          </a:prstGeom>
        </p:spPr>
      </p:pic>
      <p:pic>
        <p:nvPicPr>
          <p:cNvPr id="11" name="그림 10" descr="Pdf 이미지 - Magnific (구 Freepik)에서 무료 다운로드하기">
            <a:extLst>
              <a:ext uri="{FF2B5EF4-FFF2-40B4-BE49-F238E27FC236}">
                <a16:creationId xmlns:a16="http://schemas.microsoft.com/office/drawing/2014/main" id="{22BD5D54-CF76-6242-258F-F3F5F712D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660" y="2511570"/>
            <a:ext cx="419534" cy="419534"/>
          </a:xfrm>
          <a:prstGeom prst="rect">
            <a:avLst/>
          </a:prstGeom>
        </p:spPr>
      </p:pic>
      <p:pic>
        <p:nvPicPr>
          <p:cNvPr id="12" name="그림 11" descr="Pdf 이미지 - Magnific (구 Freepik)에서 무료 다운로드하기">
            <a:extLst>
              <a:ext uri="{FF2B5EF4-FFF2-40B4-BE49-F238E27FC236}">
                <a16:creationId xmlns:a16="http://schemas.microsoft.com/office/drawing/2014/main" id="{98083DA1-CDAF-B0F5-27DE-BBA1A3970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27" y="2502912"/>
            <a:ext cx="419534" cy="419534"/>
          </a:xfrm>
          <a:prstGeom prst="rect">
            <a:avLst/>
          </a:prstGeom>
        </p:spPr>
      </p:pic>
      <p:pic>
        <p:nvPicPr>
          <p:cNvPr id="13" name="그림 12" descr="책과 사람 PART5] 쌓여가는 마음의 양식 소화하기 &quot;넘치는 책, 어떻게 정리할까?&quot; - 브라보마이라이프">
            <a:extLst>
              <a:ext uri="{FF2B5EF4-FFF2-40B4-BE49-F238E27FC236}">
                <a16:creationId xmlns:a16="http://schemas.microsoft.com/office/drawing/2014/main" id="{8786CB31-F4A5-D0BE-1952-9C0B23FDA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733" y="2182093"/>
            <a:ext cx="828310" cy="7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제미나이 국내 이용자 10만명 돌파…신규 설치율도 챗GPT 추격 &lt; 경제일반 &lt; 경제 &lt; 기사본문 - 강원도민일보">
            <a:extLst>
              <a:ext uri="{FF2B5EF4-FFF2-40B4-BE49-F238E27FC236}">
                <a16:creationId xmlns:a16="http://schemas.microsoft.com/office/drawing/2014/main" id="{CB19C478-674A-266D-321F-1CC9F8197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062" y="3275084"/>
            <a:ext cx="3652924" cy="2701204"/>
          </a:xfrm>
          <a:prstGeom prst="rect">
            <a:avLst/>
          </a:prstGeom>
        </p:spPr>
      </p:pic>
      <p:pic>
        <p:nvPicPr>
          <p:cNvPr id="3" name="그림 2" descr="ChatGPT - 나무위키">
            <a:extLst>
              <a:ext uri="{FF2B5EF4-FFF2-40B4-BE49-F238E27FC236}">
                <a16:creationId xmlns:a16="http://schemas.microsoft.com/office/drawing/2014/main" id="{C1260BEF-A8F0-CB79-B57F-11C5379E7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484" y="3028733"/>
            <a:ext cx="2892221" cy="2892221"/>
          </a:xfrm>
          <a:prstGeom prst="rect">
            <a:avLst/>
          </a:prstGeom>
        </p:spPr>
      </p:pic>
      <p:pic>
        <p:nvPicPr>
          <p:cNvPr id="4" name="그림 3" descr="앤트로픽 AI 개발 도구 '클로드 코드' 소스 유출 - 전자신문">
            <a:extLst>
              <a:ext uri="{FF2B5EF4-FFF2-40B4-BE49-F238E27FC236}">
                <a16:creationId xmlns:a16="http://schemas.microsoft.com/office/drawing/2014/main" id="{E7BEC6C3-CECD-E263-24C9-DD81E2AFF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385" y="288348"/>
            <a:ext cx="3841173" cy="2304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Flash v 0.&#10;&#10;AI 생성 콘텐츠는 정확하지 않을 수 있습니다.">
            <a:extLst>
              <a:ext uri="{FF2B5EF4-FFF2-40B4-BE49-F238E27FC236}">
                <a16:creationId xmlns:a16="http://schemas.microsoft.com/office/drawing/2014/main" id="{9E4E4E71-8236-E60B-E723-CE260232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606" y="819576"/>
            <a:ext cx="9462308" cy="319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7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document is a snippet from a Korean language course on Index Construction in Information Retrieval, focusing on hardware basics and optimization techniques.&#10;&#10;AI 생성 콘텐츠는 정확하지 않을 수 있습니다.">
            <a:extLst>
              <a:ext uri="{FF2B5EF4-FFF2-40B4-BE49-F238E27FC236}">
                <a16:creationId xmlns:a16="http://schemas.microsoft.com/office/drawing/2014/main" id="{11F08A1B-7E09-C8E8-C580-C176F45B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623" y="979762"/>
            <a:ext cx="6486572" cy="395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5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생각하는 얼굴 - 나무위키">
            <a:extLst>
              <a:ext uri="{FF2B5EF4-FFF2-40B4-BE49-F238E27FC236}">
                <a16:creationId xmlns:a16="http://schemas.microsoft.com/office/drawing/2014/main" id="{546857F3-BBCE-2576-A2DF-12478FD2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103" y="1702808"/>
            <a:ext cx="4240791" cy="4240791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E3346BE6-EB4A-D114-F4C2-53C9C357B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3" y="419676"/>
            <a:ext cx="17526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4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카페에서 디지털 태블릿으로 숙제를 하면서 커피를 마시는 여학생의 측면 모습 사진 – Unsplash의 기술 이미지">
            <a:extLst>
              <a:ext uri="{FF2B5EF4-FFF2-40B4-BE49-F238E27FC236}">
                <a16:creationId xmlns:a16="http://schemas.microsoft.com/office/drawing/2014/main" id="{C63F3D42-DBA6-9201-A107-2999E687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41" y="857250"/>
            <a:ext cx="6861049" cy="5143500"/>
          </a:xfrm>
          <a:prstGeom prst="rect">
            <a:avLst/>
          </a:prstGeom>
        </p:spPr>
      </p:pic>
      <p:pic>
        <p:nvPicPr>
          <p:cNvPr id="5" name="그림 4" descr="제미나이 국내 이용자 10만명 돌파…신규 설치율도 챗GPT 추격 &lt; 경제일반 &lt; 경제 &lt; 기사본문 - 강원도민일보">
            <a:extLst>
              <a:ext uri="{FF2B5EF4-FFF2-40B4-BE49-F238E27FC236}">
                <a16:creationId xmlns:a16="http://schemas.microsoft.com/office/drawing/2014/main" id="{9B795C97-C777-F5C4-CC8E-C3EE5AFF7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154" y="3266221"/>
            <a:ext cx="2287818" cy="169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9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로고 | 브랜드 아이덴티티 | 회사 소개 | Samsung 대한민국">
            <a:extLst>
              <a:ext uri="{FF2B5EF4-FFF2-40B4-BE49-F238E27FC236}">
                <a16:creationId xmlns:a16="http://schemas.microsoft.com/office/drawing/2014/main" id="{A2715BA9-F35F-99D0-BE2E-C3438DB9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743" y="1225261"/>
            <a:ext cx="2895600" cy="1581150"/>
          </a:xfrm>
          <a:prstGeom prst="rect">
            <a:avLst/>
          </a:prstGeom>
        </p:spPr>
      </p:pic>
      <p:pic>
        <p:nvPicPr>
          <p:cNvPr id="5" name="그림 4" descr="네이버 - 나무위키">
            <a:extLst>
              <a:ext uri="{FF2B5EF4-FFF2-40B4-BE49-F238E27FC236}">
                <a16:creationId xmlns:a16="http://schemas.microsoft.com/office/drawing/2014/main" id="{C9F4C3E6-739E-445D-560A-9E7BD2A40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844" y="1484601"/>
            <a:ext cx="2171700" cy="2105025"/>
          </a:xfrm>
          <a:prstGeom prst="rect">
            <a:avLst/>
          </a:prstGeom>
        </p:spPr>
      </p:pic>
      <p:pic>
        <p:nvPicPr>
          <p:cNvPr id="6" name="그림 5" descr="구글 - 나무위키">
            <a:extLst>
              <a:ext uri="{FF2B5EF4-FFF2-40B4-BE49-F238E27FC236}">
                <a16:creationId xmlns:a16="http://schemas.microsoft.com/office/drawing/2014/main" id="{B98881F3-A71D-0C6D-5D3F-200636FA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344266"/>
            <a:ext cx="3733800" cy="1228725"/>
          </a:xfrm>
          <a:prstGeom prst="rect">
            <a:avLst/>
          </a:prstGeom>
        </p:spPr>
      </p:pic>
      <p:pic>
        <p:nvPicPr>
          <p:cNvPr id="7" name="그림 6" descr="아마존, 비난에도 불구하고 AI 기술로 여전히 노동자 감시 &lt; 산업일반 &lt; AI산업 &lt; 기사본문 - AI타임스">
            <a:extLst>
              <a:ext uri="{FF2B5EF4-FFF2-40B4-BE49-F238E27FC236}">
                <a16:creationId xmlns:a16="http://schemas.microsoft.com/office/drawing/2014/main" id="{DB872BD1-3C4E-6F6B-6321-78553F91B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4525241"/>
            <a:ext cx="2895600" cy="1581150"/>
          </a:xfrm>
          <a:prstGeom prst="rect">
            <a:avLst/>
          </a:prstGeom>
        </p:spPr>
      </p:pic>
      <p:pic>
        <p:nvPicPr>
          <p:cNvPr id="9" name="그림 8" descr="라인(메신저) - 나무위키">
            <a:extLst>
              <a:ext uri="{FF2B5EF4-FFF2-40B4-BE49-F238E27FC236}">
                <a16:creationId xmlns:a16="http://schemas.microsoft.com/office/drawing/2014/main" id="{63E80CEC-C73F-623F-9795-50684697D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637" y="1084984"/>
            <a:ext cx="2143125" cy="2143125"/>
          </a:xfrm>
          <a:prstGeom prst="rect">
            <a:avLst/>
          </a:prstGeom>
        </p:spPr>
      </p:pic>
      <p:pic>
        <p:nvPicPr>
          <p:cNvPr id="10" name="그림 9" descr="Microsoft - 나무위키">
            <a:extLst>
              <a:ext uri="{FF2B5EF4-FFF2-40B4-BE49-F238E27FC236}">
                <a16:creationId xmlns:a16="http://schemas.microsoft.com/office/drawing/2014/main" id="{FE3D35D8-0EE0-FA11-F461-7F34D8A9B0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353666"/>
            <a:ext cx="4629150" cy="990600"/>
          </a:xfrm>
          <a:prstGeom prst="rect">
            <a:avLst/>
          </a:prstGeom>
        </p:spPr>
      </p:pic>
      <p:pic>
        <p:nvPicPr>
          <p:cNvPr id="11" name="그림 10" descr="Apple - 나무위키">
            <a:extLst>
              <a:ext uri="{FF2B5EF4-FFF2-40B4-BE49-F238E27FC236}">
                <a16:creationId xmlns:a16="http://schemas.microsoft.com/office/drawing/2014/main" id="{4F9D6989-A8E9-ECDD-66E0-150AC1F3F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009" y="3228109"/>
            <a:ext cx="1924050" cy="2371725"/>
          </a:xfrm>
          <a:prstGeom prst="rect">
            <a:avLst/>
          </a:prstGeom>
        </p:spPr>
      </p:pic>
      <p:pic>
        <p:nvPicPr>
          <p:cNvPr id="12" name="그림 11" descr="토스(금융) - 나무위키">
            <a:extLst>
              <a:ext uri="{FF2B5EF4-FFF2-40B4-BE49-F238E27FC236}">
                <a16:creationId xmlns:a16="http://schemas.microsoft.com/office/drawing/2014/main" id="{BA594298-71EC-4A6A-A0F3-CE3D967AB8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6145" y="361084"/>
            <a:ext cx="38766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3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비밀 및 정보에 대한 제한된 액세스를 나타내는 투명한 배경에 고립 된 빨간 기밀 스탬프, 비밀의, 우표, 빨간색 PNG 일러스트 및  이미지 에 대한 무료 다운로드 - Pngtree">
            <a:extLst>
              <a:ext uri="{FF2B5EF4-FFF2-40B4-BE49-F238E27FC236}">
                <a16:creationId xmlns:a16="http://schemas.microsoft.com/office/drawing/2014/main" id="{710760CD-E009-DBA3-2697-05620FF1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692" y="689697"/>
            <a:ext cx="5126616" cy="512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1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The diagram illustrates a network of interconnected components focusing on data integration, code management, automated notifications, code commits, data operations, and API calls.&#10;&#10;AI 생성 콘텐츠는 정확하지 않을 수 있습니다.">
            <a:extLst>
              <a:ext uri="{FF2B5EF4-FFF2-40B4-BE49-F238E27FC236}">
                <a16:creationId xmlns:a16="http://schemas.microsoft.com/office/drawing/2014/main" id="{F304B986-60F2-1C11-A809-46F5B4D91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658" y="452003"/>
            <a:ext cx="5538355" cy="5538355"/>
          </a:xfrm>
          <a:prstGeom prst="rect">
            <a:avLst/>
          </a:prstGeom>
        </p:spPr>
      </p:pic>
      <p:pic>
        <p:nvPicPr>
          <p:cNvPr id="10" name="그림 9" descr="Slack logo 아이콘, 로고, 기호 – PNG, SVG 무료 다운로드">
            <a:extLst>
              <a:ext uri="{FF2B5EF4-FFF2-40B4-BE49-F238E27FC236}">
                <a16:creationId xmlns:a16="http://schemas.microsoft.com/office/drawing/2014/main" id="{9B842478-FA27-B78A-6FAF-42E29EBAA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4" y="2443162"/>
            <a:ext cx="1520569" cy="1500187"/>
          </a:xfrm>
          <a:prstGeom prst="rect">
            <a:avLst/>
          </a:prstGeom>
        </p:spPr>
      </p:pic>
      <p:pic>
        <p:nvPicPr>
          <p:cNvPr id="11" name="그림 10" descr="깃허브 - 위키백과, 우리 모두의 백과사전">
            <a:extLst>
              <a:ext uri="{FF2B5EF4-FFF2-40B4-BE49-F238E27FC236}">
                <a16:creationId xmlns:a16="http://schemas.microsoft.com/office/drawing/2014/main" id="{003205BE-AC5C-FA2E-F963-A7926C66D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250" y="2352242"/>
            <a:ext cx="1500188" cy="15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65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The image depicts a staircase with a series of stacked figures, each holding a different symbol or object, representing a hierarchy or sequence of concepts.&#10;&#10;AI 생성 콘텐츠는 정확하지 않을 수 있습니다.">
            <a:extLst>
              <a:ext uri="{FF2B5EF4-FFF2-40B4-BE49-F238E27FC236}">
                <a16:creationId xmlns:a16="http://schemas.microsoft.com/office/drawing/2014/main" id="{144EE445-3E9C-F01D-2813-F1117EAB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54" y="1114857"/>
            <a:ext cx="8049491" cy="439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3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9A12-01A5-CE10-9A07-19F3265D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The diagram illustrates a network of interconnected components focusing on data integration, code management, automated notifications, code commits, data operations, and API calls.&#10;&#10;AI 생성 콘텐츠는 정확하지 않을 수 있습니다.">
            <a:extLst>
              <a:ext uri="{FF2B5EF4-FFF2-40B4-BE49-F238E27FC236}">
                <a16:creationId xmlns:a16="http://schemas.microsoft.com/office/drawing/2014/main" id="{016090D9-849A-C08B-E9F8-A39C0655C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658" y="452003"/>
            <a:ext cx="5538355" cy="5538355"/>
          </a:xfrm>
          <a:prstGeom prst="rect">
            <a:avLst/>
          </a:prstGeom>
        </p:spPr>
      </p:pic>
      <p:pic>
        <p:nvPicPr>
          <p:cNvPr id="10" name="그림 9" descr="Slack logo 아이콘, 로고, 기호 – PNG, SVG 무료 다운로드">
            <a:extLst>
              <a:ext uri="{FF2B5EF4-FFF2-40B4-BE49-F238E27FC236}">
                <a16:creationId xmlns:a16="http://schemas.microsoft.com/office/drawing/2014/main" id="{6FEF1CE3-3925-BE96-0F09-E74C1F037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4" y="2443162"/>
            <a:ext cx="1520569" cy="1500187"/>
          </a:xfrm>
          <a:prstGeom prst="rect">
            <a:avLst/>
          </a:prstGeom>
        </p:spPr>
      </p:pic>
      <p:pic>
        <p:nvPicPr>
          <p:cNvPr id="11" name="그림 10" descr="깃허브 - 위키백과, 우리 모두의 백과사전">
            <a:extLst>
              <a:ext uri="{FF2B5EF4-FFF2-40B4-BE49-F238E27FC236}">
                <a16:creationId xmlns:a16="http://schemas.microsoft.com/office/drawing/2014/main" id="{C88EEDC6-CB84-B277-FB37-E3D93B392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250" y="2352242"/>
            <a:ext cx="1500188" cy="15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A5B4-97CE-98B7-6E66-A9EC8343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The diagram illustrates a network of interconnected components focusing on data integration, code management, automated notifications, code commits, data operations, and API calls.&#10;&#10;AI 생성 콘텐츠는 정확하지 않을 수 있습니다.">
            <a:extLst>
              <a:ext uri="{FF2B5EF4-FFF2-40B4-BE49-F238E27FC236}">
                <a16:creationId xmlns:a16="http://schemas.microsoft.com/office/drawing/2014/main" id="{24ED1524-D9B2-D508-D531-A7569D2DE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658" y="452003"/>
            <a:ext cx="5538355" cy="5538355"/>
          </a:xfrm>
          <a:prstGeom prst="rect">
            <a:avLst/>
          </a:prstGeom>
        </p:spPr>
      </p:pic>
      <p:pic>
        <p:nvPicPr>
          <p:cNvPr id="10" name="그림 9" descr="Slack logo 아이콘, 로고, 기호 – PNG, SVG 무료 다운로드">
            <a:extLst>
              <a:ext uri="{FF2B5EF4-FFF2-40B4-BE49-F238E27FC236}">
                <a16:creationId xmlns:a16="http://schemas.microsoft.com/office/drawing/2014/main" id="{C6C3F624-4C70-BCFC-B273-5A102159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4" y="2443162"/>
            <a:ext cx="1520569" cy="1500187"/>
          </a:xfrm>
          <a:prstGeom prst="rect">
            <a:avLst/>
          </a:prstGeom>
        </p:spPr>
      </p:pic>
      <p:pic>
        <p:nvPicPr>
          <p:cNvPr id="11" name="그림 10" descr="깃허브 - 위키백과, 우리 모두의 백과사전">
            <a:extLst>
              <a:ext uri="{FF2B5EF4-FFF2-40B4-BE49-F238E27FC236}">
                <a16:creationId xmlns:a16="http://schemas.microsoft.com/office/drawing/2014/main" id="{4DEDFC2F-840A-522F-E670-D59293710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250" y="2352242"/>
            <a:ext cx="1500188" cy="1500188"/>
          </a:xfrm>
          <a:prstGeom prst="rect">
            <a:avLst/>
          </a:prstGeom>
        </p:spPr>
      </p:pic>
      <p:pic>
        <p:nvPicPr>
          <p:cNvPr id="2" name="그림 1" descr="보물 상자, 빈 나무 상자, 황금색 디테일과 열쇠 구멍이있는 열린 상자. | 무료 벡터">
            <a:extLst>
              <a:ext uri="{FF2B5EF4-FFF2-40B4-BE49-F238E27FC236}">
                <a16:creationId xmlns:a16="http://schemas.microsoft.com/office/drawing/2014/main" id="{F8B53EF5-E095-758A-0A88-83D345390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3628" y="1428245"/>
            <a:ext cx="4497149" cy="416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9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보물 상자, 빈 나무 상자, 황금색 디테일과 열쇠 구멍이있는 열린 상자. | 무료 벡터">
            <a:extLst>
              <a:ext uri="{FF2B5EF4-FFF2-40B4-BE49-F238E27FC236}">
                <a16:creationId xmlns:a16="http://schemas.microsoft.com/office/drawing/2014/main" id="{80660302-6B32-A98A-A125-537727466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3628" y="1428245"/>
            <a:ext cx="4497149" cy="4169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729724-D528-71F4-1B80-35C093A1180F}"/>
              </a:ext>
            </a:extLst>
          </p:cNvPr>
          <p:cNvSpPr txBox="1"/>
          <p:nvPr/>
        </p:nvSpPr>
        <p:spPr>
          <a:xfrm>
            <a:off x="3561934" y="2105561"/>
            <a:ext cx="66523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600" dirty="0">
                <a:ln w="76200"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RAG</a:t>
            </a:r>
            <a:endParaRPr lang="ko-KR" altLang="en-US" sz="16600" dirty="0">
              <a:ln w="76200"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550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퍼기어(spur gear, 평기어)를 설계할 때 톱니의 수와 크기를 결정하는 기준 3가지: 모듈 원주피치 지름피치 : 네이버 블로그">
            <a:extLst>
              <a:ext uri="{FF2B5EF4-FFF2-40B4-BE49-F238E27FC236}">
                <a16:creationId xmlns:a16="http://schemas.microsoft.com/office/drawing/2014/main" id="{F365D2E1-1FF0-762E-DC63-C327BBF5E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287" y="1374969"/>
            <a:ext cx="5417426" cy="3800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A4315-012A-2197-B3DE-7C936D095337}"/>
              </a:ext>
            </a:extLst>
          </p:cNvPr>
          <p:cNvSpPr txBox="1"/>
          <p:nvPr/>
        </p:nvSpPr>
        <p:spPr>
          <a:xfrm>
            <a:off x="1655380" y="2604567"/>
            <a:ext cx="40464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질문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F9770-9CAA-DB36-FABF-FE4B11ED337F}"/>
              </a:ext>
            </a:extLst>
          </p:cNvPr>
          <p:cNvSpPr txBox="1"/>
          <p:nvPr/>
        </p:nvSpPr>
        <p:spPr>
          <a:xfrm>
            <a:off x="8305027" y="2604567"/>
            <a:ext cx="25172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답변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B21BB-5415-515E-B07E-CE23CA40430D}"/>
              </a:ext>
            </a:extLst>
          </p:cNvPr>
          <p:cNvSpPr txBox="1"/>
          <p:nvPr/>
        </p:nvSpPr>
        <p:spPr>
          <a:xfrm>
            <a:off x="3677280" y="545702"/>
            <a:ext cx="66523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600" dirty="0">
                <a:ln w="762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RAG</a:t>
            </a:r>
            <a:endParaRPr lang="ko-KR" altLang="en-US" sz="166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349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5763BE-DF4A-5D27-D8AD-0EF400DF7AD7}"/>
              </a:ext>
            </a:extLst>
          </p:cNvPr>
          <p:cNvSpPr txBox="1"/>
          <p:nvPr/>
        </p:nvSpPr>
        <p:spPr>
          <a:xfrm>
            <a:off x="766978" y="2838694"/>
            <a:ext cx="106580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400" dirty="0">
                <a:ln w="38100">
                  <a:solidFill>
                    <a:schemeClr val="tx1"/>
                  </a:solidFill>
                </a:ln>
              </a:rPr>
              <a:t>답변의 근거는 검색 구조가 만</a:t>
            </a:r>
            <a:r>
              <a:rPr lang="ko-KR" altLang="en-US" sz="5400" dirty="0">
                <a:ln w="38100">
                  <a:solidFill>
                    <a:schemeClr val="tx1"/>
                  </a:solidFill>
                </a:ln>
              </a:rPr>
              <a:t>든다</a:t>
            </a:r>
            <a:r>
              <a:rPr lang="en-US" altLang="ko-KR" sz="5400" dirty="0">
                <a:ln w="38100">
                  <a:solidFill>
                    <a:schemeClr val="tx1"/>
                  </a:solidFill>
                </a:ln>
              </a:rPr>
              <a:t>.</a:t>
            </a:r>
            <a:endParaRPr lang="ko-KR" altLang="en-US" sz="5400" dirty="0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79785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04CA60-AC73-2868-16C4-71233B879BB1}"/>
              </a:ext>
            </a:extLst>
          </p:cNvPr>
          <p:cNvSpPr txBox="1"/>
          <p:nvPr/>
        </p:nvSpPr>
        <p:spPr>
          <a:xfrm>
            <a:off x="3281379" y="1851645"/>
            <a:ext cx="665232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ln w="762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RAG</a:t>
            </a:r>
            <a:endParaRPr lang="ko-KR" altLang="en-US" sz="199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73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DFA1F0-894E-45F0-71B9-28270E592F32}"/>
              </a:ext>
            </a:extLst>
          </p:cNvPr>
          <p:cNvSpPr txBox="1"/>
          <p:nvPr/>
        </p:nvSpPr>
        <p:spPr>
          <a:xfrm>
            <a:off x="4958527" y="1851645"/>
            <a:ext cx="2274946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ln w="762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</a:t>
            </a:r>
            <a:endParaRPr lang="ko-KR" altLang="en-US" sz="199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E7B8-5D15-3CE5-F513-C1F7679F3A4D}"/>
              </a:ext>
            </a:extLst>
          </p:cNvPr>
          <p:cNvSpPr txBox="1"/>
          <p:nvPr/>
        </p:nvSpPr>
        <p:spPr>
          <a:xfrm>
            <a:off x="3748291" y="3743661"/>
            <a:ext cx="26463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etrieval</a:t>
            </a:r>
            <a:endParaRPr lang="ko-KR" alt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CAC8E-77D6-C4FF-B02F-46BF80B91058}"/>
              </a:ext>
            </a:extLst>
          </p:cNvPr>
          <p:cNvSpPr txBox="1"/>
          <p:nvPr/>
        </p:nvSpPr>
        <p:spPr>
          <a:xfrm>
            <a:off x="5885299" y="2191508"/>
            <a:ext cx="4891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: </a:t>
            </a:r>
            <a:r>
              <a:rPr lang="ko-KR" altLang="en-US" sz="13800" dirty="0">
                <a:ln w="76200">
                  <a:solidFill>
                    <a:schemeClr val="tx1"/>
                  </a:solidFill>
                </a:ln>
              </a:rPr>
              <a:t>검색</a:t>
            </a:r>
            <a:endParaRPr lang="ko-KR" altLang="en-US" dirty="0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5871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사막 풍경 배경 | 무료 벡터">
            <a:extLst>
              <a:ext uri="{FF2B5EF4-FFF2-40B4-BE49-F238E27FC236}">
                <a16:creationId xmlns:a16="http://schemas.microsoft.com/office/drawing/2014/main" id="{9196C6EE-7E99-8318-2FBB-5282033E7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910" y="707231"/>
            <a:ext cx="8180180" cy="5443538"/>
          </a:xfrm>
          <a:prstGeom prst="rect">
            <a:avLst/>
          </a:prstGeom>
        </p:spPr>
      </p:pic>
      <p:pic>
        <p:nvPicPr>
          <p:cNvPr id="5" name="그림 4" descr="3,800개 이상의 오아시스 스톡 일러스트, Royalty-Free 벡터 그래픽 및 클립 아트 - iStock">
            <a:extLst>
              <a:ext uri="{FF2B5EF4-FFF2-40B4-BE49-F238E27FC236}">
                <a16:creationId xmlns:a16="http://schemas.microsoft.com/office/drawing/2014/main" id="{7DE3362F-B6BB-AF76-923A-9977FA73D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917" y="3666038"/>
            <a:ext cx="22288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81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457B3-94FD-EA8C-4A09-EC555911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3DC7FA-F68F-F2DA-F478-04AC7B093D1F}"/>
              </a:ext>
            </a:extLst>
          </p:cNvPr>
          <p:cNvSpPr txBox="1"/>
          <p:nvPr/>
        </p:nvSpPr>
        <p:spPr>
          <a:xfrm>
            <a:off x="4958527" y="1851645"/>
            <a:ext cx="2274946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ln w="762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</a:t>
            </a:r>
            <a:endParaRPr lang="ko-KR" altLang="en-US" sz="199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8B4AD-0BB9-7C16-1F4C-CDA419EBC4BC}"/>
              </a:ext>
            </a:extLst>
          </p:cNvPr>
          <p:cNvSpPr txBox="1"/>
          <p:nvPr/>
        </p:nvSpPr>
        <p:spPr>
          <a:xfrm>
            <a:off x="3748290" y="3743661"/>
            <a:ext cx="2824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ugmented</a:t>
            </a:r>
            <a:endParaRPr lang="ko-KR" altLang="en-US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F9098-9227-0F29-4682-ED67F0917915}"/>
              </a:ext>
            </a:extLst>
          </p:cNvPr>
          <p:cNvSpPr txBox="1"/>
          <p:nvPr/>
        </p:nvSpPr>
        <p:spPr>
          <a:xfrm>
            <a:off x="6235103" y="2197645"/>
            <a:ext cx="4891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: </a:t>
            </a:r>
            <a:r>
              <a:rPr lang="ko-KR" altLang="en-US" sz="13800" dirty="0">
                <a:ln w="76200">
                  <a:solidFill>
                    <a:schemeClr val="tx1"/>
                  </a:solidFill>
                </a:ln>
              </a:rPr>
              <a:t>증강</a:t>
            </a:r>
            <a:endParaRPr lang="ko-KR" altLang="en-US" dirty="0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492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Pdf 이미지 - Magnific (구 Freepik)에서 무료 다운로드하기">
            <a:extLst>
              <a:ext uri="{FF2B5EF4-FFF2-40B4-BE49-F238E27FC236}">
                <a16:creationId xmlns:a16="http://schemas.microsoft.com/office/drawing/2014/main" id="{A0713E31-6D4E-29D7-9C3B-485C816F2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725" y="3737629"/>
            <a:ext cx="2678297" cy="2678297"/>
          </a:xfrm>
          <a:prstGeom prst="rect">
            <a:avLst/>
          </a:prstGeom>
        </p:spPr>
      </p:pic>
      <p:pic>
        <p:nvPicPr>
          <p:cNvPr id="16" name="그림 15" descr="Pdf 이미지 - Magnific (구 Freepik)에서 무료 다운로드하기">
            <a:extLst>
              <a:ext uri="{FF2B5EF4-FFF2-40B4-BE49-F238E27FC236}">
                <a16:creationId xmlns:a16="http://schemas.microsoft.com/office/drawing/2014/main" id="{85799088-E576-E592-4FF6-B043FE547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582" y="3890631"/>
            <a:ext cx="2678297" cy="2678297"/>
          </a:xfrm>
          <a:prstGeom prst="rect">
            <a:avLst/>
          </a:prstGeom>
        </p:spPr>
      </p:pic>
      <p:pic>
        <p:nvPicPr>
          <p:cNvPr id="22" name="그림 21" descr="Pdf 이미지 - Magnific (구 Freepik)에서 무료 다운로드하기">
            <a:extLst>
              <a:ext uri="{FF2B5EF4-FFF2-40B4-BE49-F238E27FC236}">
                <a16:creationId xmlns:a16="http://schemas.microsoft.com/office/drawing/2014/main" id="{7F5A23D7-FB9A-6C3C-2CBF-3D8CC0D9E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279" y="3844070"/>
            <a:ext cx="2678297" cy="2678297"/>
          </a:xfrm>
          <a:prstGeom prst="rect">
            <a:avLst/>
          </a:prstGeom>
        </p:spPr>
      </p:pic>
      <p:pic>
        <p:nvPicPr>
          <p:cNvPr id="23" name="Picture 5">
            <a:extLst>
              <a:ext uri="{FF2B5EF4-FFF2-40B4-BE49-F238E27FC236}">
                <a16:creationId xmlns:a16="http://schemas.microsoft.com/office/drawing/2014/main" id="{3CCC8F7B-2645-635C-75FD-00891CC8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29" y="1922871"/>
            <a:ext cx="1752600" cy="2870200"/>
          </a:xfrm>
          <a:prstGeom prst="rect">
            <a:avLst/>
          </a:prstGeom>
        </p:spPr>
      </p:pic>
      <p:pic>
        <p:nvPicPr>
          <p:cNvPr id="33" name="그림 32" descr="Pdf 이미지 - Magnific (구 Freepik)에서 무료 다운로드하기">
            <a:extLst>
              <a:ext uri="{FF2B5EF4-FFF2-40B4-BE49-F238E27FC236}">
                <a16:creationId xmlns:a16="http://schemas.microsoft.com/office/drawing/2014/main" id="{A00952EC-1BE9-F45C-63A1-C34180388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18" y="3776564"/>
            <a:ext cx="2678297" cy="2678297"/>
          </a:xfrm>
          <a:prstGeom prst="rect">
            <a:avLst/>
          </a:prstGeom>
        </p:spPr>
      </p:pic>
      <p:pic>
        <p:nvPicPr>
          <p:cNvPr id="53" name="그림 52" descr="Pdf 이미지 - Magnific (구 Freepik)에서 무료 다운로드하기">
            <a:extLst>
              <a:ext uri="{FF2B5EF4-FFF2-40B4-BE49-F238E27FC236}">
                <a16:creationId xmlns:a16="http://schemas.microsoft.com/office/drawing/2014/main" id="{940596EF-C05F-9A07-EB92-A67CB646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838" y="3844069"/>
            <a:ext cx="2678297" cy="2678297"/>
          </a:xfrm>
          <a:prstGeom prst="rect">
            <a:avLst/>
          </a:prstGeom>
        </p:spPr>
      </p:pic>
      <p:pic>
        <p:nvPicPr>
          <p:cNvPr id="54" name="그림 53" descr="책과 사람 PART5] 쌓여가는 마음의 양식 소화하기 &quot;넘치는 책, 어떻게 정리할까?&quot; - 브라보마이라이프">
            <a:extLst>
              <a:ext uri="{FF2B5EF4-FFF2-40B4-BE49-F238E27FC236}">
                <a16:creationId xmlns:a16="http://schemas.microsoft.com/office/drawing/2014/main" id="{59C7EA6F-BA8B-3F91-9F3B-6465E182F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03" y="347735"/>
            <a:ext cx="4184036" cy="3542896"/>
          </a:xfrm>
          <a:prstGeom prst="rect">
            <a:avLst/>
          </a:prstGeom>
        </p:spPr>
      </p:pic>
      <p:pic>
        <p:nvPicPr>
          <p:cNvPr id="55" name="그림 54" descr="책과 사람 PART5] 쌓여가는 마음의 양식 소화하기 &quot;넘치는 책, 어떻게 정리할까?&quot; - 브라보마이라이프">
            <a:extLst>
              <a:ext uri="{FF2B5EF4-FFF2-40B4-BE49-F238E27FC236}">
                <a16:creationId xmlns:a16="http://schemas.microsoft.com/office/drawing/2014/main" id="{AD197595-BCE4-B9C3-3970-492D2378C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565" y="421153"/>
            <a:ext cx="4097332" cy="34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4197-7CAF-86EA-DAA8-306E94D0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39C7E4-1F14-DFF6-25D6-6025ADC7E70E}"/>
              </a:ext>
            </a:extLst>
          </p:cNvPr>
          <p:cNvSpPr txBox="1"/>
          <p:nvPr/>
        </p:nvSpPr>
        <p:spPr>
          <a:xfrm>
            <a:off x="4958527" y="1851645"/>
            <a:ext cx="2274946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ln w="762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G</a:t>
            </a:r>
            <a:endParaRPr lang="ko-KR" altLang="en-US" sz="199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BA16C-5FAB-AC8D-9A10-BB3D63C66FA6}"/>
              </a:ext>
            </a:extLst>
          </p:cNvPr>
          <p:cNvSpPr txBox="1"/>
          <p:nvPr/>
        </p:nvSpPr>
        <p:spPr>
          <a:xfrm>
            <a:off x="3748290" y="3743661"/>
            <a:ext cx="2824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eneration</a:t>
            </a:r>
            <a:endParaRPr lang="ko-KR" altLang="en-US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76203-C058-C386-00F0-A2299AA5DC63}"/>
              </a:ext>
            </a:extLst>
          </p:cNvPr>
          <p:cNvSpPr txBox="1"/>
          <p:nvPr/>
        </p:nvSpPr>
        <p:spPr>
          <a:xfrm>
            <a:off x="6096000" y="2191508"/>
            <a:ext cx="4891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: </a:t>
            </a:r>
            <a:r>
              <a:rPr lang="ko-KR" altLang="en-US" sz="13800" dirty="0">
                <a:ln w="76200">
                  <a:solidFill>
                    <a:schemeClr val="tx1"/>
                  </a:solidFill>
                </a:ln>
              </a:rPr>
              <a:t>생성</a:t>
            </a:r>
            <a:endParaRPr lang="ko-KR" altLang="en-US" dirty="0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2009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프린터 이미지 - Magnific (구 Freepik)에서 무료 다운로드하기">
            <a:extLst>
              <a:ext uri="{FF2B5EF4-FFF2-40B4-BE49-F238E27FC236}">
                <a16:creationId xmlns:a16="http://schemas.microsoft.com/office/drawing/2014/main" id="{B35C489C-E9AF-BF67-74B4-AC027CC3C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536" y="468802"/>
            <a:ext cx="5296827" cy="5296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CFDA86-B845-EBE6-0A88-C36A4D007AEE}"/>
              </a:ext>
            </a:extLst>
          </p:cNvPr>
          <p:cNvSpPr txBox="1"/>
          <p:nvPr/>
        </p:nvSpPr>
        <p:spPr>
          <a:xfrm>
            <a:off x="4966807" y="4279564"/>
            <a:ext cx="3268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dirty="0"/>
              <a:t>답변</a:t>
            </a:r>
          </a:p>
        </p:txBody>
      </p:sp>
    </p:spTree>
    <p:extLst>
      <p:ext uri="{BB962C8B-B14F-4D97-AF65-F5344CB8AC3E}">
        <p14:creationId xmlns:p14="http://schemas.microsoft.com/office/powerpoint/2010/main" val="3280623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The image is a complex web of interconnected data strings, resembling a chaotic, abstract data visualization.&#10;&#10;AI 생성 콘텐츠는 정확하지 않을 수 있습니다.">
            <a:extLst>
              <a:ext uri="{FF2B5EF4-FFF2-40B4-BE49-F238E27FC236}">
                <a16:creationId xmlns:a16="http://schemas.microsoft.com/office/drawing/2014/main" id="{AB90F6E2-7096-5904-3770-FA1D73A9E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928" y="840405"/>
            <a:ext cx="8047538" cy="439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88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Pdf 이미지 - Magnific (구 Freepik)에서 무료 다운로드하기">
            <a:extLst>
              <a:ext uri="{FF2B5EF4-FFF2-40B4-BE49-F238E27FC236}">
                <a16:creationId xmlns:a16="http://schemas.microsoft.com/office/drawing/2014/main" id="{974EB823-8AEC-0C87-FF57-B842FF99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617" y="369890"/>
            <a:ext cx="2128765" cy="21287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4F4136-A058-B023-0542-016391B9EF8B}"/>
              </a:ext>
            </a:extLst>
          </p:cNvPr>
          <p:cNvSpPr txBox="1"/>
          <p:nvPr/>
        </p:nvSpPr>
        <p:spPr>
          <a:xfrm>
            <a:off x="3043907" y="2417944"/>
            <a:ext cx="70022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 w="12700">
                  <a:solidFill>
                    <a:schemeClr val="tx1"/>
                  </a:solidFill>
                </a:ln>
              </a:rPr>
              <a:t>경북대학교 졸업 요건 및 학칙 자료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C4B74-5E43-B943-8B29-C64D99717034}"/>
              </a:ext>
            </a:extLst>
          </p:cNvPr>
          <p:cNvSpPr txBox="1"/>
          <p:nvPr/>
        </p:nvSpPr>
        <p:spPr>
          <a:xfrm>
            <a:off x="5297212" y="1358884"/>
            <a:ext cx="1597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총 이수학점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D53D1-BFC5-8C6F-C96E-5585E20505BE}"/>
              </a:ext>
            </a:extLst>
          </p:cNvPr>
          <p:cNvSpPr txBox="1"/>
          <p:nvPr/>
        </p:nvSpPr>
        <p:spPr>
          <a:xfrm>
            <a:off x="4804434" y="1355547"/>
            <a:ext cx="2583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전공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교양 이수 조건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115E3-7827-F98D-BD45-A6A1793D353E}"/>
              </a:ext>
            </a:extLst>
          </p:cNvPr>
          <p:cNvSpPr txBox="1"/>
          <p:nvPr/>
        </p:nvSpPr>
        <p:spPr>
          <a:xfrm>
            <a:off x="4398580" y="1352210"/>
            <a:ext cx="3725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졸업 논문 또는 졸업 작품 규정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75892-2DCE-E36D-86B1-277A2306F94B}"/>
              </a:ext>
            </a:extLst>
          </p:cNvPr>
          <p:cNvSpPr txBox="1"/>
          <p:nvPr/>
        </p:nvSpPr>
        <p:spPr>
          <a:xfrm>
            <a:off x="589108" y="4939750"/>
            <a:ext cx="3283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[0.12, -0.44, 0.31, 0.08, ...]</a:t>
            </a:r>
            <a:endParaRPr lang="ko-KR" alt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BF8EC-D8C3-40B6-7C53-5355B48D9B22}"/>
              </a:ext>
            </a:extLst>
          </p:cNvPr>
          <p:cNvSpPr txBox="1"/>
          <p:nvPr/>
        </p:nvSpPr>
        <p:spPr>
          <a:xfrm>
            <a:off x="4196590" y="4939750"/>
            <a:ext cx="3283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[0.16, -0.62, 0.21, 0.10, ...]</a:t>
            </a:r>
            <a:endParaRPr lang="ko-KR" alt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0AB4C-65EC-BA3E-6CB9-BC5728228A33}"/>
              </a:ext>
            </a:extLst>
          </p:cNvPr>
          <p:cNvSpPr txBox="1"/>
          <p:nvPr/>
        </p:nvSpPr>
        <p:spPr>
          <a:xfrm>
            <a:off x="7742702" y="4939750"/>
            <a:ext cx="3283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[0.72, 0.34, -0.01, -0.92, ...]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2307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99 0.00556 L -0.35859 0.31598 " pathEditMode="relative" ptsTypes="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6 -0.00532 L -0.02279 0.35093 " pathEditMode="relative" ptsTypes="AA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23 -0.00185 L 0.23477 0.33148 " pathEditMode="relative" ptsTypes="AA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A85EF61F-7923-523B-EA4A-7070A536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881" y="1186442"/>
            <a:ext cx="1752600" cy="287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E6246E-3491-3468-905F-767D78D4650B}"/>
              </a:ext>
            </a:extLst>
          </p:cNvPr>
          <p:cNvSpPr txBox="1"/>
          <p:nvPr/>
        </p:nvSpPr>
        <p:spPr>
          <a:xfrm>
            <a:off x="3597079" y="4620631"/>
            <a:ext cx="49978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/>
              <a:t>[0.76, 0.30, -0.12, -0.83, ...]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65697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D1FBC4-02FB-B3A1-D7C9-374435E518E2}"/>
              </a:ext>
            </a:extLst>
          </p:cNvPr>
          <p:cNvSpPr txBox="1"/>
          <p:nvPr/>
        </p:nvSpPr>
        <p:spPr>
          <a:xfrm>
            <a:off x="885198" y="1474946"/>
            <a:ext cx="5487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졸업 논문 또는 졸업 작품 규정</a:t>
            </a:r>
          </a:p>
        </p:txBody>
      </p:sp>
      <p:sp>
        <p:nvSpPr>
          <p:cNvPr id="5" name="십자형 4">
            <a:extLst>
              <a:ext uri="{FF2B5EF4-FFF2-40B4-BE49-F238E27FC236}">
                <a16:creationId xmlns:a16="http://schemas.microsoft.com/office/drawing/2014/main" id="{27E700AD-D026-CE94-DADC-646F0216482E}"/>
              </a:ext>
            </a:extLst>
          </p:cNvPr>
          <p:cNvSpPr/>
          <p:nvPr/>
        </p:nvSpPr>
        <p:spPr>
          <a:xfrm>
            <a:off x="2583640" y="2278004"/>
            <a:ext cx="1313299" cy="1325573"/>
          </a:xfrm>
          <a:prstGeom prst="plus">
            <a:avLst>
              <a:gd name="adj" fmla="val 390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35302-2155-5E11-70E4-C3E9B4B2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69" y="3935779"/>
            <a:ext cx="1164184" cy="1906562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CD4D840-5740-7EA5-0307-EC5B417DF461}"/>
              </a:ext>
            </a:extLst>
          </p:cNvPr>
          <p:cNvSpPr/>
          <p:nvPr/>
        </p:nvSpPr>
        <p:spPr>
          <a:xfrm>
            <a:off x="5652097" y="2767747"/>
            <a:ext cx="1442174" cy="50322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제미나이 국내 이용자 10만명 돌파…신규 설치율도 챗GPT 추격 &lt; 경제일반 &lt; 경제 &lt; 기사본문 - 강원도민일보">
            <a:extLst>
              <a:ext uri="{FF2B5EF4-FFF2-40B4-BE49-F238E27FC236}">
                <a16:creationId xmlns:a16="http://schemas.microsoft.com/office/drawing/2014/main" id="{C2FD147A-1535-7461-DE73-B46D4C69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933" y="1863830"/>
            <a:ext cx="3125319" cy="231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22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0F8EF6-58C9-A18D-40C3-690C5B2FC669}"/>
              </a:ext>
            </a:extLst>
          </p:cNvPr>
          <p:cNvSpPr txBox="1"/>
          <p:nvPr/>
        </p:nvSpPr>
        <p:spPr>
          <a:xfrm>
            <a:off x="2683876" y="2105561"/>
            <a:ext cx="682424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600" b="1" i="1" dirty="0"/>
              <a:t>DEMO</a:t>
            </a:r>
            <a:endParaRPr lang="ko-KR" altLang="en-US" sz="16600" b="1" i="1" dirty="0"/>
          </a:p>
        </p:txBody>
      </p:sp>
    </p:spTree>
    <p:extLst>
      <p:ext uri="{BB962C8B-B14F-4D97-AF65-F5344CB8AC3E}">
        <p14:creationId xmlns:p14="http://schemas.microsoft.com/office/powerpoint/2010/main" val="2182089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레고® 캐슬 | LEGO® Shop KR">
            <a:extLst>
              <a:ext uri="{FF2B5EF4-FFF2-40B4-BE49-F238E27FC236}">
                <a16:creationId xmlns:a16="http://schemas.microsoft.com/office/drawing/2014/main" id="{C2354195-FD55-6FE5-2225-E2D4258E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18" y="315379"/>
            <a:ext cx="5892108" cy="589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25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tip of the iceberg. : 네이버 블로그">
            <a:extLst>
              <a:ext uri="{FF2B5EF4-FFF2-40B4-BE49-F238E27FC236}">
                <a16:creationId xmlns:a16="http://schemas.microsoft.com/office/drawing/2014/main" id="{74CC7E3E-351D-F37A-666D-57372399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876" y="497569"/>
            <a:ext cx="5350142" cy="59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25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5CD0-70AC-87FA-8B27-1F561C1B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FA3B52-1A0A-8E74-C6EB-A24E7360591B}"/>
              </a:ext>
            </a:extLst>
          </p:cNvPr>
          <p:cNvSpPr txBox="1"/>
          <p:nvPr/>
        </p:nvSpPr>
        <p:spPr>
          <a:xfrm>
            <a:off x="766978" y="2838694"/>
            <a:ext cx="106580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400" dirty="0">
                <a:ln w="38100">
                  <a:solidFill>
                    <a:schemeClr val="tx1"/>
                  </a:solidFill>
                </a:ln>
              </a:rPr>
              <a:t>답변의 근거는 검색 구조가 만</a:t>
            </a:r>
            <a:r>
              <a:rPr lang="ko-KR" altLang="en-US" sz="5400" dirty="0">
                <a:ln w="38100">
                  <a:solidFill>
                    <a:schemeClr val="tx1"/>
                  </a:solidFill>
                </a:ln>
              </a:rPr>
              <a:t>든다</a:t>
            </a:r>
            <a:r>
              <a:rPr lang="en-US" altLang="ko-KR" sz="5400" dirty="0">
                <a:ln w="38100">
                  <a:solidFill>
                    <a:schemeClr val="tx1"/>
                  </a:solidFill>
                </a:ln>
              </a:rPr>
              <a:t>.</a:t>
            </a:r>
            <a:endParaRPr lang="ko-KR" altLang="en-US" sz="5400" dirty="0">
              <a:ln w="381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9191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106</Words>
  <Application>Microsoft Office PowerPoint</Application>
  <PresentationFormat>와이드스크린</PresentationFormat>
  <Paragraphs>29</Paragraphs>
  <Slides>32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Asta Sans ExtraBold</vt:lpstr>
      <vt:lpstr>Arial</vt:lpstr>
      <vt:lpstr>Office 테마</vt:lpstr>
      <vt:lpstr>LIT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유진 탁</dc:creator>
  <cp:lastModifiedBy>지원 이</cp:lastModifiedBy>
  <cp:revision>3</cp:revision>
  <dcterms:created xsi:type="dcterms:W3CDTF">2026-02-23T09:20:34Z</dcterms:created>
  <dcterms:modified xsi:type="dcterms:W3CDTF">2026-06-03T18:23:34Z</dcterms:modified>
</cp:coreProperties>
</file>